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DD599-9900-4DD6-BBDB-E1490FEAD8E2}" v="16" dt="2026-09-28T16:16:09.0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18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a vihari" userId="837d949f83b1ab54" providerId="LiveId" clId="{4F82D4F0-04B1-43F8-B923-604F686F7199}"/>
    <pc:docChg chg="custSel modSld">
      <pc:chgData name="manasa vihari" userId="837d949f83b1ab54" providerId="LiveId" clId="{4F82D4F0-04B1-43F8-B923-604F686F7199}" dt="2026-09-28T16:27:13.222" v="225" actId="1076"/>
      <pc:docMkLst>
        <pc:docMk/>
      </pc:docMkLst>
      <pc:sldChg chg="addSp delSp modSp mod">
        <pc:chgData name="manasa vihari" userId="837d949f83b1ab54" providerId="LiveId" clId="{4F82D4F0-04B1-43F8-B923-604F686F7199}" dt="2026-09-28T16:18:01.312" v="181" actId="14100"/>
        <pc:sldMkLst>
          <pc:docMk/>
          <pc:sldMk cId="26077263" sldId="292"/>
        </pc:sldMkLst>
        <pc:spChg chg="mod">
          <ac:chgData name="manasa vihari" userId="837d949f83b1ab54" providerId="LiveId" clId="{4F82D4F0-04B1-43F8-B923-604F686F7199}" dt="2026-09-28T16:16:10.975" v="148" actId="20577"/>
          <ac:spMkLst>
            <pc:docMk/>
            <pc:sldMk cId="26077263" sldId="292"/>
            <ac:spMk id="18" creationId="{00000000-0000-0000-0000-000000000000}"/>
          </ac:spMkLst>
        </pc:spChg>
        <pc:spChg chg="del mod">
          <ac:chgData name="manasa vihari" userId="837d949f83b1ab54" providerId="LiveId" clId="{4F82D4F0-04B1-43F8-B923-604F686F7199}" dt="2026-09-28T16:16:59.289" v="162"/>
          <ac:spMkLst>
            <pc:docMk/>
            <pc:sldMk cId="26077263" sldId="292"/>
            <ac:spMk id="19" creationId="{00000000-0000-0000-0000-000000000000}"/>
          </ac:spMkLst>
        </pc:spChg>
        <pc:picChg chg="add mod">
          <ac:chgData name="manasa vihari" userId="837d949f83b1ab54" providerId="LiveId" clId="{4F82D4F0-04B1-43F8-B923-604F686F7199}" dt="2026-09-28T16:16:48.995" v="159" actId="14861"/>
          <ac:picMkLst>
            <pc:docMk/>
            <pc:sldMk cId="26077263" sldId="292"/>
            <ac:picMk id="9" creationId="{4AF65508-D646-C6B4-B520-A856B4F391E5}"/>
          </ac:picMkLst>
        </pc:picChg>
        <pc:picChg chg="add mod">
          <ac:chgData name="manasa vihari" userId="837d949f83b1ab54" providerId="LiveId" clId="{4F82D4F0-04B1-43F8-B923-604F686F7199}" dt="2026-09-28T16:18:01.312" v="181" actId="14100"/>
          <ac:picMkLst>
            <pc:docMk/>
            <pc:sldMk cId="26077263" sldId="292"/>
            <ac:picMk id="11" creationId="{7A305286-2F42-1297-217A-3909826B894E}"/>
          </ac:picMkLst>
        </pc:picChg>
      </pc:sldChg>
      <pc:sldChg chg="addSp delSp modSp mod setBg">
        <pc:chgData name="manasa vihari" userId="837d949f83b1ab54" providerId="LiveId" clId="{4F82D4F0-04B1-43F8-B923-604F686F7199}" dt="2026-09-28T16:20:08.922" v="199" actId="14861"/>
        <pc:sldMkLst>
          <pc:docMk/>
          <pc:sldMk cId="26077263" sldId="293"/>
        </pc:sldMkLst>
        <pc:spChg chg="mod">
          <ac:chgData name="manasa vihari" userId="837d949f83b1ab54" providerId="LiveId" clId="{4F82D4F0-04B1-43F8-B923-604F686F7199}" dt="2026-09-28T16:19:23.604" v="183" actId="20577"/>
          <ac:spMkLst>
            <pc:docMk/>
            <pc:sldMk cId="26077263" sldId="293"/>
            <ac:spMk id="18" creationId="{00000000-0000-0000-0000-000000000000}"/>
          </ac:spMkLst>
        </pc:spChg>
        <pc:spChg chg="del mod">
          <ac:chgData name="manasa vihari" userId="837d949f83b1ab54" providerId="LiveId" clId="{4F82D4F0-04B1-43F8-B923-604F686F7199}" dt="2026-09-28T16:01:21.629" v="3"/>
          <ac:spMkLst>
            <pc:docMk/>
            <pc:sldMk cId="26077263" sldId="293"/>
            <ac:spMk id="19" creationId="{00000000-0000-0000-0000-000000000000}"/>
          </ac:spMkLst>
        </pc:spChg>
        <pc:picChg chg="add mod">
          <ac:chgData name="manasa vihari" userId="837d949f83b1ab54" providerId="LiveId" clId="{4F82D4F0-04B1-43F8-B923-604F686F7199}" dt="2026-09-28T16:04:34.649" v="100" actId="1076"/>
          <ac:picMkLst>
            <pc:docMk/>
            <pc:sldMk cId="26077263" sldId="293"/>
            <ac:picMk id="9" creationId="{4D2B2B52-7DE6-331E-2AD5-0C9DF32D356D}"/>
          </ac:picMkLst>
        </pc:picChg>
        <pc:picChg chg="add mod">
          <ac:chgData name="manasa vihari" userId="837d949f83b1ab54" providerId="LiveId" clId="{4F82D4F0-04B1-43F8-B923-604F686F7199}" dt="2026-09-28T16:04:32.728" v="99" actId="1076"/>
          <ac:picMkLst>
            <pc:docMk/>
            <pc:sldMk cId="26077263" sldId="293"/>
            <ac:picMk id="11" creationId="{2EDB183C-E84C-2C86-2B60-063058008C5C}"/>
          </ac:picMkLst>
        </pc:picChg>
        <pc:picChg chg="add mod">
          <ac:chgData name="manasa vihari" userId="837d949f83b1ab54" providerId="LiveId" clId="{4F82D4F0-04B1-43F8-B923-604F686F7199}" dt="2026-09-28T16:20:08.922" v="199" actId="14861"/>
          <ac:picMkLst>
            <pc:docMk/>
            <pc:sldMk cId="26077263" sldId="293"/>
            <ac:picMk id="13" creationId="{F9F2D348-CC8D-A56F-1E73-897F91EB4AE0}"/>
          </ac:picMkLst>
        </pc:picChg>
      </pc:sldChg>
      <pc:sldChg chg="addSp modSp mod">
        <pc:chgData name="manasa vihari" userId="837d949f83b1ab54" providerId="LiveId" clId="{4F82D4F0-04B1-43F8-B923-604F686F7199}" dt="2026-09-28T16:27:13.222" v="225" actId="1076"/>
        <pc:sldMkLst>
          <pc:docMk/>
          <pc:sldMk cId="26077263" sldId="295"/>
        </pc:sldMkLst>
        <pc:spChg chg="mod">
          <ac:chgData name="manasa vihari" userId="837d949f83b1ab54" providerId="LiveId" clId="{4F82D4F0-04B1-43F8-B923-604F686F7199}" dt="2026-09-28T16:21:34.229" v="200" actId="20577"/>
          <ac:spMkLst>
            <pc:docMk/>
            <pc:sldMk cId="26077263" sldId="295"/>
            <ac:spMk id="18" creationId="{00000000-0000-0000-0000-000000000000}"/>
          </ac:spMkLst>
        </pc:spChg>
        <pc:spChg chg="mod">
          <ac:chgData name="manasa vihari" userId="837d949f83b1ab54" providerId="LiveId" clId="{4F82D4F0-04B1-43F8-B923-604F686F7199}" dt="2026-09-28T16:26:12.114" v="209" actId="20577"/>
          <ac:spMkLst>
            <pc:docMk/>
            <pc:sldMk cId="26077263" sldId="295"/>
            <ac:spMk id="19" creationId="{00000000-0000-0000-0000-000000000000}"/>
          </ac:spMkLst>
        </pc:spChg>
        <pc:picChg chg="add mod">
          <ac:chgData name="manasa vihari" userId="837d949f83b1ab54" providerId="LiveId" clId="{4F82D4F0-04B1-43F8-B923-604F686F7199}" dt="2026-09-28T16:22:04.454" v="208" actId="14861"/>
          <ac:picMkLst>
            <pc:docMk/>
            <pc:sldMk cId="26077263" sldId="295"/>
            <ac:picMk id="9" creationId="{E0F54B5A-5C71-F453-F8D0-AAFB3396479C}"/>
          </ac:picMkLst>
        </pc:picChg>
        <pc:picChg chg="add mod">
          <ac:chgData name="manasa vihari" userId="837d949f83b1ab54" providerId="LiveId" clId="{4F82D4F0-04B1-43F8-B923-604F686F7199}" dt="2026-09-28T16:27:13.222" v="225" actId="1076"/>
          <ac:picMkLst>
            <pc:docMk/>
            <pc:sldMk cId="26077263" sldId="295"/>
            <ac:picMk id="11" creationId="{C3706C37-DE44-3ED7-B68C-A6033E6B9B5C}"/>
          </ac:picMkLst>
        </pc:picChg>
      </pc:sldChg>
      <pc:sldChg chg="addSp delSp modSp mod">
        <pc:chgData name="manasa vihari" userId="837d949f83b1ab54" providerId="LiveId" clId="{4F82D4F0-04B1-43F8-B923-604F686F7199}" dt="2026-09-28T16:12:08.546" v="129" actId="403"/>
        <pc:sldMkLst>
          <pc:docMk/>
          <pc:sldMk cId="26077263" sldId="297"/>
        </pc:sldMkLst>
        <pc:spChg chg="add mod">
          <ac:chgData name="manasa vihari" userId="837d949f83b1ab54" providerId="LiveId" clId="{4F82D4F0-04B1-43F8-B923-604F686F7199}" dt="2026-09-28T16:12:08.546" v="129" actId="403"/>
          <ac:spMkLst>
            <pc:docMk/>
            <pc:sldMk cId="26077263" sldId="297"/>
            <ac:spMk id="11" creationId="{CDBA7CC4-E0FE-3663-1D56-600E5E120ECA}"/>
          </ac:spMkLst>
        </pc:spChg>
        <pc:spChg chg="mod">
          <ac:chgData name="manasa vihari" userId="837d949f83b1ab54" providerId="LiveId" clId="{4F82D4F0-04B1-43F8-B923-604F686F7199}" dt="2026-09-28T16:11:30.147" v="119" actId="1076"/>
          <ac:spMkLst>
            <pc:docMk/>
            <pc:sldMk cId="26077263" sldId="297"/>
            <ac:spMk id="18" creationId="{00000000-0000-0000-0000-000000000000}"/>
          </ac:spMkLst>
        </pc:spChg>
        <pc:picChg chg="add mod">
          <ac:chgData name="manasa vihari" userId="837d949f83b1ab54" providerId="LiveId" clId="{4F82D4F0-04B1-43F8-B923-604F686F7199}" dt="2026-09-28T16:10:34.235" v="114" actId="14100"/>
          <ac:picMkLst>
            <pc:docMk/>
            <pc:sldMk cId="26077263" sldId="297"/>
            <ac:picMk id="9" creationId="{18399DCD-C81E-505A-C21C-C4186BE38BBA}"/>
          </ac:picMkLst>
        </pc:picChg>
        <pc:picChg chg="add del mod">
          <ac:chgData name="manasa vihari" userId="837d949f83b1ab54" providerId="LiveId" clId="{4F82D4F0-04B1-43F8-B923-604F686F7199}" dt="2026-09-28T16:10:46.413" v="117" actId="21"/>
          <ac:picMkLst>
            <pc:docMk/>
            <pc:sldMk cId="26077263" sldId="297"/>
            <ac:picMk id="10" creationId="{DAF084A9-B022-8ECA-53AE-CBAB31994B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62000" y="2414258"/>
            <a:ext cx="8642906" cy="4167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600" b="1" dirty="0">
                <a:latin typeface="Times New Roman"/>
              </a:rPr>
              <a:t>STUDENT BUDGET ONLINE SHOPPING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1" y="3141267"/>
            <a:ext cx="6248400" cy="24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</a:rPr>
              <a:t>Presented by</a:t>
            </a:r>
            <a:r>
              <a:rPr sz="2000" b="0" dirty="0">
                <a:solidFill>
                  <a:schemeClr val="tx2"/>
                </a:solidFill>
                <a:latin typeface="Times New Roman"/>
              </a:rPr>
              <a:t>
A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. </a:t>
            </a:r>
            <a:r>
              <a:rPr sz="2000" b="0" dirty="0">
                <a:solidFill>
                  <a:schemeClr val="tx2"/>
                </a:solidFill>
                <a:latin typeface="Times New Roman"/>
              </a:rPr>
              <a:t>Sumalatha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26B21AI001)</a:t>
            </a:r>
            <a:r>
              <a:rPr sz="2000" b="0" dirty="0">
                <a:solidFill>
                  <a:schemeClr val="tx2"/>
                </a:solidFill>
                <a:latin typeface="Times New Roman"/>
              </a:rPr>
              <a:t>
K. Sravani Jyothi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26B21AI059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)</a:t>
            </a:r>
            <a:r>
              <a:rPr sz="2000" b="0" dirty="0">
                <a:solidFill>
                  <a:schemeClr val="tx2"/>
                </a:solidFill>
                <a:latin typeface="Times New Roman"/>
              </a:rPr>
              <a:t>
Y. Y Manasa Vihari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26B21AI116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)</a:t>
            </a:r>
            <a:r>
              <a:rPr sz="2000" b="0" dirty="0">
                <a:solidFill>
                  <a:schemeClr val="tx2"/>
                </a:solidFill>
                <a:latin typeface="Times New Roman"/>
              </a:rPr>
              <a:t>
R. Sruthi Alekhya</a:t>
            </a:r>
            <a:r>
              <a:rPr lang="en-IN" sz="2000" b="0" dirty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22B11AIA06)</a:t>
            </a:r>
            <a:endParaRPr sz="2000" b="0" dirty="0">
              <a:solidFill>
                <a:schemeClr val="tx2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25B6C-F3B0-B080-31AC-C77E194B09F9}"/>
              </a:ext>
            </a:extLst>
          </p:cNvPr>
          <p:cNvSpPr txBox="1"/>
          <p:nvPr/>
        </p:nvSpPr>
        <p:spPr>
          <a:xfrm>
            <a:off x="1008019" y="1149923"/>
            <a:ext cx="8042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</a:t>
            </a: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2A1589-A4D8-C768-F88A-711F3E4E507A}"/>
              </a:ext>
            </a:extLst>
          </p:cNvPr>
          <p:cNvSpPr txBox="1"/>
          <p:nvPr/>
        </p:nvSpPr>
        <p:spPr>
          <a:xfrm>
            <a:off x="1142067" y="5943600"/>
            <a:ext cx="79842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4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US" sz="24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0728" y="1828800"/>
            <a:ext cx="4509250" cy="43947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68965" y="1797205"/>
            <a:ext cx="4100000" cy="357149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Presentation Outline</a:t>
              </a:r>
              <a:endPara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</a:t>
              </a:r>
              <a:endPara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1097280"/>
            <a:ext cx="886968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1800" b="1" dirty="0">
                <a:solidFill>
                  <a:srgbClr val="1E1E1E"/>
                </a:solidFill>
                <a:latin typeface="Times New Roman"/>
              </a:rPr>
              <a:t>PROJECT TITLE</a:t>
            </a:r>
            <a:r>
              <a:rPr sz="1800" b="0" dirty="0">
                <a:solidFill>
                  <a:srgbClr val="1E1E1E"/>
                </a:solidFill>
                <a:latin typeface="Times New Roman"/>
              </a:rPr>
              <a:t>
Student Budget Online Shopping System
</a:t>
            </a:r>
            <a:r>
              <a:rPr sz="1800" b="1" dirty="0">
                <a:solidFill>
                  <a:srgbClr val="1E1E1E"/>
                </a:solidFill>
                <a:latin typeface="Times New Roman"/>
              </a:rPr>
              <a:t>OBJECTIVE</a:t>
            </a:r>
            <a:r>
              <a:rPr sz="1800" b="0" dirty="0">
                <a:solidFill>
                  <a:srgbClr val="1E1E1E"/>
                </a:solidFill>
                <a:latin typeface="Times New Roman"/>
              </a:rPr>
              <a:t>
To develop a structured database that helps students manage budgets, products, shopping activities and purchase details efficiently.
</a:t>
            </a:r>
            <a:r>
              <a:rPr sz="1800" b="1" dirty="0">
                <a:solidFill>
                  <a:srgbClr val="1E1E1E"/>
                </a:solidFill>
                <a:latin typeface="Times New Roman"/>
              </a:rPr>
              <a:t>PROBLEM STATEMENT
</a:t>
            </a:r>
            <a:r>
              <a:rPr sz="1800" dirty="0">
                <a:solidFill>
                  <a:srgbClr val="1E1E1E"/>
                </a:solidFill>
                <a:latin typeface="Times New Roman"/>
              </a:rPr>
              <a:t>Students often face difficulty </a:t>
            </a:r>
            <a:r>
              <a:rPr sz="1800" b="0" dirty="0">
                <a:solidFill>
                  <a:srgbClr val="1E1E1E"/>
                </a:solidFill>
                <a:latin typeface="Times New Roman"/>
              </a:rPr>
              <a:t>in managing limited budgets while purchasing essential items. Manual tracking of prices, quantities and purchases makes it difficult to monitor expenditure and maintain accurate records. A centralized DBMS is required to organize student, budget, product, cart, order, payment and feedback information.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960120"/>
            <a:ext cx="908304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0" dirty="0">
                <a:solidFill>
                  <a:srgbClr val="1E1E1E"/>
                </a:solidFill>
                <a:latin typeface="Times New Roman"/>
              </a:rPr>
              <a:t>
1. Student — Student_ID (PK), Name, Email,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Phone_Number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Department, Year
2. Category — Category_ID (PK), Category_Name, Description
3. Product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Product_ID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Product_Name, Price, Stock, Category_ID (FK)
4. Budget — Budget_ID (PK),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Budget_Amount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Start_Date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End_Date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(FK)
5. Cart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Created_Date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(FK)
6. Cart Item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CartItem_ID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Quantity,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Product_ID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
7. Order Details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Total_Amount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(FK)
8. Order Item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OrderItem_ID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Quantity, Price,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Product_ID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
9. Payment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Amount,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Payment_Method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
10. Wishlist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Wishlist_ID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Added_Date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(FK),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Product_ID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
11. Feedback —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Feedback_ID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(PK), Rating, Comment, Student_ID (FK),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Product_ID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(FK)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961585-9D97-9216-CB6C-98274F17B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08" y="1047814"/>
            <a:ext cx="8970092" cy="609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283319"/>
            <a:ext cx="842772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b="0" dirty="0">
                <a:solidFill>
                  <a:srgbClr val="1E1E1E"/>
                </a:solidFill>
                <a:latin typeface="Times New Roman"/>
              </a:rPr>
              <a:t>Student(Student_ID PK, Name, Email, Phone_Number, Department, Year)
Category(Category_ID PK, Category_Name, Description)
Product(Product_ID PK, Product_Name, Price, Stock, Category_ID FK)
Budget(Budget_ID PK,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Budget_Amount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Start_Date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End_Date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FK)
Cart(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Created_Date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FK)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Cart_Item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CartItem_ID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Quantity, Product_ID FK,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FK)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Order_Details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Total_Amount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FK)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Order_Item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OrderItem_ID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Quantity, Price,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FK, Product_ID FK)
Payment(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Amount,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Payment_Method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FK)
Wishlist(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Wishlist_ID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Added_Date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Student_ID FK, Product_ID FK)
Feedback(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Feedback_ID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PK, Rating, Comment, Student_ID FK, Product_ID FK)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005840"/>
            <a:ext cx="87172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1E1E"/>
                </a:solidFill>
                <a:latin typeface="Times New Roman"/>
              </a:rPr>
              <a:t>PRIMARY KEY (PK)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A primary key uniquely identifies each record in a table and cannot contain NULL values.
Example: Student_ID uniquely identifies a student.
</a:t>
            </a:r>
            <a:r>
              <a:rPr b="1" dirty="0">
                <a:solidFill>
                  <a:srgbClr val="1E1E1E"/>
                </a:solidFill>
                <a:latin typeface="Times New Roman"/>
              </a:rPr>
              <a:t>FOREIGN KEY (FK)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A foreign key references a primary key in another table. It connects related entities and maintains referential integrity.
Example: Student_ID in Budget references Student_ID in Student.
</a:t>
            </a:r>
            <a:r>
              <a:rPr b="1" dirty="0">
                <a:solidFill>
                  <a:srgbClr val="1E1E1E"/>
                </a:solidFill>
                <a:latin typeface="Times New Roman"/>
              </a:rPr>
              <a:t>KEY MAPPING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Student → PK Student_ID
Category → PK Category_ID
Product → PK Product_ID; FK Category_ID
Budget → PK Budget_ID; FK Student_ID
Cart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Student_ID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Cart_Item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CartItem_ID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Cart_ID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Product_ID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Order_Details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Student_ID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Order_Item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OrderItem_ID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, Product_ID
Payment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Payment_ID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Order_ID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Wishlist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Wishlist_ID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Student_ID, Product_ID
Feedback → PK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Feedback_ID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; FK Student_ID, Product_ID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914400"/>
            <a:ext cx="8351520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1" dirty="0">
                <a:solidFill>
                  <a:srgbClr val="1E1E1E"/>
                </a:solidFill>
                <a:latin typeface="Times New Roman"/>
              </a:rPr>
              <a:t>Repository: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github.com/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sravani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-kotha/student-budget-online-shopping
Repository files:
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ddl.sql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|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dml.sql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| </a:t>
            </a:r>
            <a:r>
              <a:rPr b="0" dirty="0" err="1">
                <a:solidFill>
                  <a:srgbClr val="1E1E1E"/>
                </a:solidFill>
                <a:latin typeface="Times New Roman"/>
              </a:rPr>
              <a:t>queries.sql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| diagrams/ | screenshots/ | README.md
</a:t>
            </a:r>
            <a:r>
              <a:rPr b="1" dirty="0">
                <a:solidFill>
                  <a:srgbClr val="1E1E1E"/>
                </a:solidFill>
                <a:latin typeface="Times New Roman"/>
              </a:rPr>
              <a:t>TEAM RESPONSIBILITIES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A</a:t>
            </a:r>
            <a:r>
              <a:rPr lang="en-IN" b="0" dirty="0">
                <a:solidFill>
                  <a:srgbClr val="1E1E1E"/>
                </a:solidFill>
                <a:latin typeface="Times New Roman"/>
              </a:rPr>
              <a:t>.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 Sumalatha
</a:t>
            </a:r>
            <a:r>
              <a:rPr lang="en-IN" b="0" dirty="0">
                <a:solidFill>
                  <a:srgbClr val="1E1E1E"/>
                </a:solidFill>
                <a:latin typeface="Times New Roman"/>
              </a:rPr>
              <a:t>     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• ER diagram, database schema and relationships
K. Sravani Jyothi
</a:t>
            </a:r>
            <a:r>
              <a:rPr lang="en-IN" b="0" dirty="0">
                <a:solidFill>
                  <a:srgbClr val="1E1E1E"/>
                </a:solidFill>
                <a:latin typeface="Times New Roman"/>
              </a:rPr>
              <a:t>     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• DDL, table creation, keys and constraints
Y. Y. Manasa Vihari
</a:t>
            </a:r>
            <a:r>
              <a:rPr lang="en-IN" b="0" dirty="0">
                <a:solidFill>
                  <a:srgbClr val="1E1E1E"/>
                </a:solidFill>
                <a:latin typeface="Times New Roman"/>
              </a:rPr>
              <a:t>     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• DML, DQL, CRUD, JOIN and aggregate queries
R. Sruthi Alekhya
</a:t>
            </a:r>
            <a:r>
              <a:rPr lang="en-IN" b="0" dirty="0">
                <a:solidFill>
                  <a:srgbClr val="1E1E1E"/>
                </a:solidFill>
                <a:latin typeface="Times New Roman"/>
              </a:rPr>
              <a:t>     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• Documentation, screenshots and repository organization
The project files have been committed and pushed to the shared GitHub repository</a:t>
            </a:r>
            <a:r>
              <a:rPr sz="1400" b="0" dirty="0">
                <a:solidFill>
                  <a:srgbClr val="1E1E1E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7315" y="1283319"/>
            <a:ext cx="3877085" cy="475488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0"/>
              </a:spcAft>
              <a:defRPr sz="11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65508-D646-C6B4-B520-A856B4F39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1" y="1600200"/>
            <a:ext cx="3581400" cy="411480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05286-2F42-1297-217A-3909826B8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252" y="1519636"/>
            <a:ext cx="5010008" cy="4195364"/>
          </a:xfrm>
          <a:prstGeom prst="rect">
            <a:avLst/>
          </a:prstGeom>
          <a:effectLst>
            <a:softEdge rad="139700"/>
          </a:effectLst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531" y="1495474"/>
            <a:ext cx="4434840" cy="516636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0"/>
              </a:spcAft>
              <a:defRPr sz="1050">
                <a:latin typeface="Consolas"/>
              </a:defRPr>
            </a:pPr>
            <a:endParaRPr sz="1600" dirty="0">
              <a:solidFill>
                <a:srgbClr val="1E1E1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2B2B52-7DE6-331E-2AD5-0C9DF32D35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7968" y="1255869"/>
            <a:ext cx="3468130" cy="2522804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DB183C-E84C-2C86-2B60-063058008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415" y="4495800"/>
            <a:ext cx="3848100" cy="1295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F2D348-CC8D-A56F-1E73-897F91EB4A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407" y="1905000"/>
            <a:ext cx="4094671" cy="437192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417" y="1752600"/>
            <a:ext cx="2782973" cy="530352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0"/>
              </a:spcAft>
              <a:defRPr sz="1200">
                <a:latin typeface="Consolas"/>
              </a:defRPr>
            </a:pPr>
            <a:r>
              <a:rPr sz="1600" b="1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endParaRPr lang="en-IN" sz="1600" b="1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  <a:defRPr sz="1200">
                <a:latin typeface="Consolas"/>
              </a:defRPr>
            </a:pPr>
            <a:endParaRPr sz="1600" b="1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DML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DQL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examples: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Department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Year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Payment Amoun</a:t>
            </a:r>
            <a:r>
              <a:rPr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66855" y="1752600"/>
            <a:ext cx="2940279" cy="530352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0"/>
              </a:spcAft>
              <a:defRPr sz="1200">
                <a:latin typeface="Consolas"/>
              </a:defRPr>
            </a:pPr>
            <a:r>
              <a:rPr sz="1600" b="1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DQL EXAMPLE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Product_Name, Price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Product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Price &lt; 500;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6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p.Product_Name</a:t>
            </a: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6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c.Category_Name</a:t>
            </a: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Product p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Category c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6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p.Category_ID</a:t>
            </a: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6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c.Category_ID</a:t>
            </a: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086600" y="1752600"/>
            <a:ext cx="2743200" cy="530352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0"/>
              </a:spcAft>
              <a:defRPr sz="1200">
                <a:latin typeface="Consolas"/>
              </a:defRPr>
            </a:pPr>
            <a:r>
              <a:rPr sz="1600" b="1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AGGREGATES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COUNT(*)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SUM(Stock)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AVG(Price)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MAX(Price)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MIN(Price)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SUBQUERY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&gt; AVG(Price)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6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Product_Category_View</a:t>
            </a: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333" y="1322610"/>
            <a:ext cx="4328160" cy="521208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defRPr sz="1100">
                <a:latin typeface="Consolas"/>
              </a:defRPr>
            </a:pPr>
            <a:endParaRPr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241180" y="1427419"/>
            <a:ext cx="4585268" cy="521208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0"/>
              </a:spcAft>
              <a:defRPr sz="1050">
                <a:latin typeface="Consolas"/>
              </a:defRPr>
            </a:pPr>
            <a:endParaRPr sz="160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F54B5A-5C71-F453-F8D0-AAFB33964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87" y="1975398"/>
            <a:ext cx="4202113" cy="4048752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706C37-DE44-3ED7-B68C-A6033E6B9B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6429" y="1996999"/>
            <a:ext cx="4233151" cy="3815802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600200"/>
            <a:ext cx="41910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1" dirty="0">
                <a:solidFill>
                  <a:srgbClr val="1E1E1E"/>
                </a:solidFill>
                <a:latin typeface="Times New Roman"/>
              </a:rPr>
              <a:t>DATA INTEGRITY &amp; VALIDATION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CHECK TEST
Price = -100
→ INSERT rejected</a:t>
            </a:r>
            <a:endParaRPr lang="en-IN" b="0" dirty="0">
              <a:solidFill>
                <a:srgbClr val="1E1E1E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b="0" dirty="0">
                <a:solidFill>
                  <a:srgbClr val="1E1E1E"/>
                </a:solidFill>
                <a:latin typeface="Times New Roman"/>
              </a:rPr>
              <a:t>
FOREIGN KEY TEST
Category_ID = 999
→ INSERT rejected
UNIQUE TEST
Duplicate student email
→ INSERT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600200"/>
            <a:ext cx="35814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1" dirty="0">
                <a:solidFill>
                  <a:srgbClr val="1E1E1E"/>
                </a:solidFill>
                <a:latin typeface="Times New Roman"/>
              </a:rPr>
              <a:t>RESULT</a:t>
            </a:r>
            <a:r>
              <a:rPr b="0" dirty="0">
                <a:solidFill>
                  <a:srgbClr val="1E1E1E"/>
                </a:solidFill>
                <a:latin typeface="Times New Roman"/>
              </a:rPr>
              <a:t>
The constraints prevent invalid,
duplicate and inconsistent records.
Examples:
• Price must be greater than 0
• Stock cannot be negative
• Rating is restricted to 1–5
• Category_ID must exist
• Student email must be unique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960120"/>
            <a:ext cx="8763000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1E1E1E"/>
                </a:solidFill>
                <a:latin typeface="Times New Roman"/>
              </a:rPr>
              <a:t>The project documentation includes:</a:t>
            </a:r>
            <a:r>
              <a:rPr sz="2000" b="0" dirty="0">
                <a:solidFill>
                  <a:srgbClr val="1E1E1E"/>
                </a:solidFill>
                <a:latin typeface="Times New Roman"/>
              </a:rPr>
              <a:t>
• Project abstract, objective and problem statement
• Entities and attributes
• ER diagram and relationships
• Relational database schema
• Primary and foreign key mapping
• DDL, DML and DQL queries
• CRUD, JOIN, aggregate, GROUP BY, HAVING and subquery examples
• Views and data-integrity tests
• MySQL execution screenshots
• GitHub repository and team responsibilities
</a:t>
            </a:r>
            <a:r>
              <a:rPr sz="2000" b="1" dirty="0">
                <a:solidFill>
                  <a:srgbClr val="1E1E1E"/>
                </a:solidFill>
                <a:latin typeface="Times New Roman"/>
              </a:rPr>
              <a:t>Repository structure:</a:t>
            </a:r>
            <a:r>
              <a:rPr sz="2000" b="0" dirty="0">
                <a:solidFill>
                  <a:srgbClr val="1E1E1E"/>
                </a:solidFill>
                <a:latin typeface="Times New Roman"/>
              </a:rPr>
              <a:t>
</a:t>
            </a:r>
            <a:r>
              <a:rPr sz="2000" b="0" dirty="0" err="1">
                <a:solidFill>
                  <a:srgbClr val="1E1E1E"/>
                </a:solidFill>
                <a:latin typeface="Times New Roman"/>
              </a:rPr>
              <a:t>ddl.sql</a:t>
            </a:r>
            <a:r>
              <a:rPr sz="2000" b="0" dirty="0">
                <a:solidFill>
                  <a:srgbClr val="1E1E1E"/>
                </a:solidFill>
                <a:latin typeface="Times New Roman"/>
              </a:rPr>
              <a:t> | </a:t>
            </a:r>
            <a:r>
              <a:rPr sz="2000" b="0" dirty="0" err="1">
                <a:solidFill>
                  <a:srgbClr val="1E1E1E"/>
                </a:solidFill>
                <a:latin typeface="Times New Roman"/>
              </a:rPr>
              <a:t>dml.sql</a:t>
            </a:r>
            <a:r>
              <a:rPr sz="2000" b="0" dirty="0">
                <a:solidFill>
                  <a:srgbClr val="1E1E1E"/>
                </a:solidFill>
                <a:latin typeface="Times New Roman"/>
              </a:rPr>
              <a:t> | </a:t>
            </a:r>
            <a:r>
              <a:rPr sz="2000" b="0" dirty="0" err="1">
                <a:solidFill>
                  <a:srgbClr val="1E1E1E"/>
                </a:solidFill>
                <a:latin typeface="Times New Roman"/>
              </a:rPr>
              <a:t>queries.sql</a:t>
            </a:r>
            <a:r>
              <a:rPr sz="2000" b="0" dirty="0">
                <a:solidFill>
                  <a:srgbClr val="1E1E1E"/>
                </a:solidFill>
                <a:latin typeface="Times New Roman"/>
              </a:rPr>
              <a:t> | diagrams/ | screenshots/ | README.md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864965"/>
            <a:ext cx="100584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0" dirty="0">
                <a:solidFill>
                  <a:srgbClr val="1E1E1E"/>
                </a:solidFill>
                <a:latin typeface="Times New Roman"/>
              </a:rPr>
              <a:t>
1. Open MySQL Workbench
2. Select </a:t>
            </a:r>
            <a:r>
              <a:rPr sz="2000" b="0" dirty="0" err="1">
                <a:solidFill>
                  <a:srgbClr val="1E1E1E"/>
                </a:solidFill>
                <a:latin typeface="Times New Roman"/>
              </a:rPr>
              <a:t>student_budget_shopping</a:t>
            </a:r>
            <a:r>
              <a:rPr sz="2000" b="0" dirty="0">
                <a:solidFill>
                  <a:srgbClr val="1E1E1E"/>
                </a:solidFill>
                <a:latin typeface="Times New Roman"/>
              </a:rPr>
              <a:t>
3. SHOW TABLES
4. Display sample table records
5. Execute CRUD query
6. Demonstrate JOIN and aggregate query
7. Demonstrate GROUP BY / HAVING
8. Show constraint validation
9. Show ER diagram
10. Open the GitHub repository and project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399DCD-C81E-505A-C21C-C4186BE38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997" y="1216577"/>
            <a:ext cx="3743107" cy="381262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BA7CC4-E0FE-3663-1D56-600E5E120ECA}"/>
              </a:ext>
            </a:extLst>
          </p:cNvPr>
          <p:cNvSpPr txBox="1"/>
          <p:nvPr/>
        </p:nvSpPr>
        <p:spPr>
          <a:xfrm>
            <a:off x="6008997" y="4950045"/>
            <a:ext cx="351600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2D2D2D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contains the required tables:</a:t>
            </a:r>
          </a:p>
          <a:p>
            <a:pPr>
              <a:defRPr sz="1100">
                <a:solidFill>
                  <a:srgbClr val="464646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Category, Product, Budget, Cart, Orders, Payment, Wishlist, Feedback and related tables.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1234440"/>
            <a:ext cx="8519160" cy="491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000" b="0" dirty="0">
                <a:solidFill>
                  <a:srgbClr val="1E1E1E"/>
                </a:solidFill>
                <a:latin typeface="Times New Roman"/>
              </a:rPr>
              <a:t>
</a:t>
            </a:r>
            <a:r>
              <a:rPr sz="2400" b="0" dirty="0">
                <a:solidFill>
                  <a:srgbClr val="1E1E1E"/>
                </a:solidFill>
                <a:latin typeface="Times New Roman"/>
              </a:rPr>
              <a:t>The Student Budget Online Shopping System provides a structured database for managing student budgets, products, shopping activities and purchase </a:t>
            </a:r>
            <a:r>
              <a:rPr sz="2400" b="0" dirty="0" err="1">
                <a:solidFill>
                  <a:srgbClr val="1E1E1E"/>
                </a:solidFill>
                <a:latin typeface="Times New Roman"/>
              </a:rPr>
              <a:t>records.The</a:t>
            </a:r>
            <a:r>
              <a:rPr sz="2400" b="0" dirty="0">
                <a:solidFill>
                  <a:srgbClr val="1E1E1E"/>
                </a:solidFill>
                <a:latin typeface="Times New Roman"/>
              </a:rPr>
              <a:t> project demonstrates practical DBMS concepts including entities, relationships, primary keys, foreign keys, constraints, SQL operations, CRUD, joins, aggregate functions, views and data </a:t>
            </a:r>
            <a:r>
              <a:rPr sz="2400" b="0" dirty="0" err="1">
                <a:solidFill>
                  <a:srgbClr val="1E1E1E"/>
                </a:solidFill>
                <a:latin typeface="Times New Roman"/>
              </a:rPr>
              <a:t>validation.The</a:t>
            </a:r>
            <a:r>
              <a:rPr sz="2400" b="0" dirty="0">
                <a:solidFill>
                  <a:srgbClr val="1E1E1E"/>
                </a:solidFill>
                <a:latin typeface="Times New Roman"/>
              </a:rPr>
              <a:t> completed SQL files, diagrams, screenshots and documentation are organized in the GitHub repository.</a:t>
            </a:r>
            <a:endParaRPr sz="2000" b="0" dirty="0">
              <a:solidFill>
                <a:srgbClr val="1E1E1E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2626</TotalTime>
  <Words>1584</Words>
  <Application>Microsoft Office PowerPoint</Application>
  <PresentationFormat>Custom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Cambria</vt:lpstr>
      <vt:lpstr>Palatino Linotype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manasa vihari</cp:lastModifiedBy>
  <cp:revision>50</cp:revision>
  <cp:lastPrinted>2025-10-14T18:21:49Z</cp:lastPrinted>
  <dcterms:created xsi:type="dcterms:W3CDTF">2025-10-10T08:28:06Z</dcterms:created>
  <dcterms:modified xsi:type="dcterms:W3CDTF">2026-09-28T16:27:20Z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